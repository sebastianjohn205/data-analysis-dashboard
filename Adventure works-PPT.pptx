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73" r:id="rId15"/>
    <p:sldId id="267" r:id="rId16"/>
    <p:sldId id="268" r:id="rId17"/>
    <p:sldId id="275" r:id="rId18"/>
    <p:sldId id="269" r:id="rId19"/>
    <p:sldId id="270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7969-C238-9E8F-1F8B-48A67D8D6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328738"/>
            <a:ext cx="9019057" cy="1443037"/>
          </a:xfrm>
        </p:spPr>
        <p:txBody>
          <a:bodyPr/>
          <a:lstStyle/>
          <a:p>
            <a:r>
              <a:rPr lang="en-US" sz="8000" b="1" dirty="0"/>
              <a:t>Adventure works</a:t>
            </a:r>
            <a:endParaRPr lang="en-IN" sz="8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7AB08-7A4C-7483-2CCA-10DCC26D6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9488" y="3443287"/>
            <a:ext cx="4743450" cy="2085975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dirty="0"/>
              <a:t>Presented By-</a:t>
            </a:r>
          </a:p>
          <a:p>
            <a:r>
              <a:rPr lang="en-US" dirty="0"/>
              <a:t>Johnson V</a:t>
            </a:r>
          </a:p>
          <a:p>
            <a:r>
              <a:rPr lang="en-IN" dirty="0"/>
              <a:t>Yaswanth </a:t>
            </a:r>
            <a:r>
              <a:rPr lang="en-IN" dirty="0" err="1"/>
              <a:t>Donthagani</a:t>
            </a:r>
            <a:endParaRPr lang="en-IN" dirty="0"/>
          </a:p>
          <a:p>
            <a:r>
              <a:rPr lang="en-IN" dirty="0"/>
              <a:t>Sahil </a:t>
            </a:r>
            <a:r>
              <a:rPr lang="en-IN" dirty="0" err="1"/>
              <a:t>bangar</a:t>
            </a:r>
            <a:endParaRPr lang="en-IN" dirty="0"/>
          </a:p>
          <a:p>
            <a:r>
              <a:rPr lang="en-IN" dirty="0"/>
              <a:t>Aditi mali</a:t>
            </a:r>
          </a:p>
          <a:p>
            <a:r>
              <a:rPr lang="en-IN" dirty="0"/>
              <a:t>Mirza Kashif Raza</a:t>
            </a:r>
          </a:p>
          <a:p>
            <a:r>
              <a:rPr lang="en-IN" dirty="0" err="1"/>
              <a:t>Pokharkar</a:t>
            </a:r>
            <a:r>
              <a:rPr lang="en-IN" dirty="0"/>
              <a:t> </a:t>
            </a:r>
            <a:r>
              <a:rPr lang="en-IN" dirty="0" err="1"/>
              <a:t>suyash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25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488FF-FF0E-D912-05DC-549D8DD6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7FA56-5A27-FD94-59C3-D57E76C20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200"/>
            <a:ext cx="9753600" cy="4267200"/>
          </a:xfrm>
        </p:spPr>
        <p:txBody>
          <a:bodyPr/>
          <a:lstStyle/>
          <a:p>
            <a:r>
              <a:rPr lang="en-US" dirty="0"/>
              <a:t>1. project overview</a:t>
            </a:r>
          </a:p>
          <a:p>
            <a:r>
              <a:rPr lang="en-US" dirty="0"/>
              <a:t>2. KPIs Defined</a:t>
            </a:r>
          </a:p>
          <a:p>
            <a:r>
              <a:rPr lang="en-US" dirty="0"/>
              <a:t>3. KPI Analysis</a:t>
            </a:r>
          </a:p>
          <a:p>
            <a:r>
              <a:rPr lang="en-US" dirty="0"/>
              <a:t>4. Dashboards</a:t>
            </a:r>
          </a:p>
          <a:p>
            <a:r>
              <a:rPr lang="en-US" dirty="0"/>
              <a:t>5. Insights</a:t>
            </a:r>
          </a:p>
          <a:p>
            <a:r>
              <a:rPr lang="en-US" dirty="0"/>
              <a:t>6. Challenges</a:t>
            </a:r>
          </a:p>
          <a:p>
            <a:r>
              <a:rPr lang="en-US" dirty="0"/>
              <a:t>7. 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24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23393-6937-1634-AC67-C3525B6B3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1" y="200025"/>
            <a:ext cx="11129962" cy="1971675"/>
          </a:xfrm>
        </p:spPr>
        <p:txBody>
          <a:bodyPr>
            <a:normAutofit/>
          </a:bodyPr>
          <a:lstStyle/>
          <a:p>
            <a:r>
              <a:rPr lang="en-US" b="1" dirty="0"/>
              <a:t>Project Overview </a:t>
            </a:r>
            <a:r>
              <a:rPr lang="en-US" dirty="0"/>
              <a:t>- </a:t>
            </a:r>
            <a:r>
              <a:rPr lang="en-US" b="1" dirty="0"/>
              <a:t>Adventure Works Sales &amp; Profit Analysis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25BB3-5E89-581B-5A25-2CEAAA0C2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628775"/>
            <a:ext cx="10958512" cy="5029200"/>
          </a:xfrm>
        </p:spPr>
        <p:txBody>
          <a:bodyPr>
            <a:normAutofit/>
          </a:bodyPr>
          <a:lstStyle/>
          <a:p>
            <a:r>
              <a:rPr lang="en-US" sz="2400" dirty="0"/>
              <a:t>This project focuses on analyzing the </a:t>
            </a:r>
            <a:r>
              <a:rPr lang="en-US" sz="2400" b="1" dirty="0"/>
              <a:t>Adventure Works sales dataset</a:t>
            </a:r>
            <a:r>
              <a:rPr lang="en-US" sz="2400" dirty="0"/>
              <a:t> to understand overall business performance, profitability, and sales trends.</a:t>
            </a:r>
          </a:p>
          <a:p>
            <a:r>
              <a:rPr lang="en-US" sz="2400" dirty="0"/>
              <a:t>Interactive dashboards were created using </a:t>
            </a:r>
            <a:r>
              <a:rPr lang="en-US" sz="2400" b="1" dirty="0"/>
              <a:t>Power BI /excel / Tableau</a:t>
            </a:r>
            <a:r>
              <a:rPr lang="en-US" sz="2400" dirty="0"/>
              <a:t> to visualize key KPIs such as </a:t>
            </a:r>
            <a:r>
              <a:rPr lang="en-US" sz="2400" b="1" dirty="0"/>
              <a:t>total sales, profit, profit margin, and sales trends</a:t>
            </a:r>
            <a:r>
              <a:rPr lang="en-US" sz="2400" dirty="0"/>
              <a:t> across time periods.</a:t>
            </a:r>
          </a:p>
          <a:p>
            <a:r>
              <a:rPr lang="en-US" sz="2400" dirty="0"/>
              <a:t>The analysis covers </a:t>
            </a:r>
            <a:r>
              <a:rPr lang="en-US" sz="2400" b="1" dirty="0"/>
              <a:t>year-wise, quarter-wise, and month-wise performance</a:t>
            </a:r>
            <a:r>
              <a:rPr lang="en-US" sz="2400" dirty="0"/>
              <a:t>, along with </a:t>
            </a:r>
            <a:r>
              <a:rPr lang="en-US" sz="2400" b="1" dirty="0"/>
              <a:t>product-wise and customer-wise insights</a:t>
            </a:r>
            <a:r>
              <a:rPr lang="en-US" sz="2400" dirty="0"/>
              <a:t>.</a:t>
            </a:r>
          </a:p>
          <a:p>
            <a:r>
              <a:rPr lang="en-US" sz="2400" dirty="0"/>
              <a:t>The project aims to support </a:t>
            </a:r>
            <a:r>
              <a:rPr lang="en-US" sz="2400" b="1" dirty="0"/>
              <a:t>data-driven decision-making</a:t>
            </a:r>
            <a:r>
              <a:rPr lang="en-US" sz="2400" dirty="0"/>
              <a:t> by identifying top-performing products, seasonal patterns, and growth opportunities.</a:t>
            </a:r>
          </a:p>
          <a:p>
            <a:r>
              <a:rPr lang="en-US" sz="2400" dirty="0"/>
              <a:t>The dashboards provide a </a:t>
            </a:r>
            <a:r>
              <a:rPr lang="en-US" sz="2400" b="1" dirty="0"/>
              <a:t>clear and interactive view of business health</a:t>
            </a:r>
            <a:r>
              <a:rPr lang="en-US" sz="2400" dirty="0"/>
              <a:t>, enabling stakeholders to monitor performance and plan strategic actions effectively.</a:t>
            </a:r>
          </a:p>
        </p:txBody>
      </p:sp>
    </p:spTree>
    <p:extLst>
      <p:ext uri="{BB962C8B-B14F-4D97-AF65-F5344CB8AC3E}">
        <p14:creationId xmlns:p14="http://schemas.microsoft.com/office/powerpoint/2010/main" val="1477153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9858-803F-5E9D-1F85-9BB0DA6F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385764"/>
            <a:ext cx="10144125" cy="785812"/>
          </a:xfrm>
        </p:spPr>
        <p:txBody>
          <a:bodyPr>
            <a:normAutofit/>
          </a:bodyPr>
          <a:lstStyle/>
          <a:p>
            <a:r>
              <a:rPr lang="en-IN" sz="3200" b="1" dirty="0"/>
              <a:t>THE TECHNICAL PROCESS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C33F4D-3091-BCAE-6B3A-4E8E2A5D4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8" y="1685925"/>
            <a:ext cx="3471862" cy="41814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/>
              <a:t> </a:t>
            </a:r>
            <a:r>
              <a:rPr lang="en-IN" sz="3000" b="1" dirty="0"/>
              <a:t>📗 Excel</a:t>
            </a:r>
          </a:p>
          <a:p>
            <a:pPr marL="0" indent="0">
              <a:buNone/>
            </a:pPr>
            <a:endParaRPr lang="en-IN" sz="3000" b="1" dirty="0"/>
          </a:p>
          <a:p>
            <a:r>
              <a:rPr lang="en-IN" b="1" dirty="0"/>
              <a:t>Data Preparation &amp; Validation</a:t>
            </a:r>
            <a:endParaRPr lang="en-IN" dirty="0"/>
          </a:p>
          <a:p>
            <a:r>
              <a:rPr lang="en-IN" dirty="0"/>
              <a:t>Imported Adventure Works datasets (Sales, Customers, Products, Dates)</a:t>
            </a:r>
          </a:p>
          <a:p>
            <a:r>
              <a:rPr lang="en-IN" dirty="0"/>
              <a:t>Performed </a:t>
            </a:r>
            <a:r>
              <a:rPr lang="en-IN" b="1" dirty="0"/>
              <a:t>initial data cleaning</a:t>
            </a:r>
            <a:r>
              <a:rPr lang="en-IN" dirty="0"/>
              <a:t> (null checks, formatting, duplicates)</a:t>
            </a:r>
          </a:p>
          <a:p>
            <a:r>
              <a:rPr lang="en-IN" dirty="0"/>
              <a:t>Created </a:t>
            </a:r>
            <a:r>
              <a:rPr lang="en-IN" b="1" dirty="0"/>
              <a:t>basic calculations</a:t>
            </a:r>
            <a:r>
              <a:rPr lang="en-IN" dirty="0"/>
              <a:t> like total sales, profit, and margins</a:t>
            </a:r>
          </a:p>
          <a:p>
            <a:r>
              <a:rPr lang="en-IN" dirty="0"/>
              <a:t>Validated data consistency before analysis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3017D-DB04-45E2-FB05-829DFF1B67B5}"/>
              </a:ext>
            </a:extLst>
          </p:cNvPr>
          <p:cNvSpPr txBox="1"/>
          <p:nvPr/>
        </p:nvSpPr>
        <p:spPr>
          <a:xfrm>
            <a:off x="4886324" y="1685925"/>
            <a:ext cx="330041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🗄️ SQL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b="1" dirty="0"/>
              <a:t>Data Extraction &amp; KPI Logic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SQL queries to </a:t>
            </a:r>
            <a:r>
              <a:rPr lang="en-IN" b="1" dirty="0"/>
              <a:t>filter, join, and aggregate</a:t>
            </a:r>
            <a:r>
              <a:rPr lang="en-IN" dirty="0"/>
              <a:t> large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 complex KPIs using </a:t>
            </a:r>
            <a:r>
              <a:rPr lang="en-IN" b="1" dirty="0"/>
              <a:t>JOINS, CTEs, GROUP BY, and Date functions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</a:t>
            </a:r>
            <a:r>
              <a:rPr lang="en-IN" b="1" dirty="0"/>
              <a:t>year-wise, month-wise, and product-wise</a:t>
            </a:r>
            <a:r>
              <a:rPr lang="en-IN" dirty="0"/>
              <a:t>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Ensured accurate and scalable data transformation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DDF2BC-72A3-A2EF-051C-5E0C4EFD5D2A}"/>
              </a:ext>
            </a:extLst>
          </p:cNvPr>
          <p:cNvSpPr txBox="1"/>
          <p:nvPr/>
        </p:nvSpPr>
        <p:spPr>
          <a:xfrm>
            <a:off x="8472488" y="1685925"/>
            <a:ext cx="3186113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📊 Power BI / Tableau</a:t>
            </a:r>
          </a:p>
          <a:p>
            <a:pPr>
              <a:buNone/>
            </a:pPr>
            <a:r>
              <a:rPr lang="en-IN" sz="2000" b="1" dirty="0"/>
              <a:t>Data </a:t>
            </a:r>
            <a:r>
              <a:rPr lang="en-IN" sz="2000" b="1" dirty="0" err="1"/>
              <a:t>Modeling</a:t>
            </a:r>
            <a:r>
              <a:rPr lang="en-IN" sz="2000" b="1" dirty="0"/>
              <a:t> &amp; Visualization</a:t>
            </a:r>
          </a:p>
          <a:p>
            <a:pPr>
              <a:buNone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Designed a </a:t>
            </a:r>
            <a:r>
              <a:rPr lang="en-IN" b="1" dirty="0"/>
              <a:t>relational data model</a:t>
            </a:r>
            <a:r>
              <a:rPr lang="en-IN" dirty="0"/>
              <a:t> using fact and dimension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Created </a:t>
            </a:r>
            <a:r>
              <a:rPr lang="en-IN" b="1" dirty="0"/>
              <a:t>interactive dashboards</a:t>
            </a:r>
            <a:r>
              <a:rPr lang="en-IN" dirty="0"/>
              <a:t> with slicers and filters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Visualized KPIs: </a:t>
            </a:r>
            <a:r>
              <a:rPr lang="en-IN" b="1" dirty="0"/>
              <a:t>Total Sales, Profit, Profit Margin, Trends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Enabled drill-down insights for </a:t>
            </a:r>
            <a:r>
              <a:rPr lang="en-IN" b="1" dirty="0"/>
              <a:t>products, customers, and regions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647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144D-C123-611B-F735-CF105C5E4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76225"/>
            <a:ext cx="11077574" cy="9382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Dashboard  :  </a:t>
            </a:r>
            <a:r>
              <a:rPr lang="en-US" b="1" i="1" dirty="0"/>
              <a:t>Adventure Works – Sales &amp; Profits KPIs</a:t>
            </a:r>
            <a:br>
              <a:rPr lang="en-US" sz="3100" b="1" dirty="0"/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79281-0723-3303-8D9C-5FE0D3A87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485900"/>
            <a:ext cx="7758113" cy="49863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2400" b="1" dirty="0"/>
              <a:t>1️⃣ Total Sales – 29.36M</a:t>
            </a:r>
          </a:p>
          <a:p>
            <a:r>
              <a:rPr lang="en-US" sz="2400" b="1" dirty="0"/>
              <a:t>What it means:</a:t>
            </a:r>
            <a:br>
              <a:rPr lang="en-US" sz="2400" dirty="0"/>
            </a:br>
            <a:r>
              <a:rPr lang="en-US" sz="2400" dirty="0"/>
              <a:t>Total revenue generated by Adventure Works across all years and products.</a:t>
            </a:r>
          </a:p>
          <a:p>
            <a:r>
              <a:rPr lang="en-US" sz="2400" b="1" dirty="0"/>
              <a:t>Finding / Insight:</a:t>
            </a:r>
            <a:endParaRPr lang="en-US" sz="2400" dirty="0"/>
          </a:p>
          <a:p>
            <a:r>
              <a:rPr lang="en-US" sz="2400" dirty="0"/>
              <a:t>Indicates strong overall business performance.</a:t>
            </a:r>
          </a:p>
          <a:p>
            <a:r>
              <a:rPr lang="en-US" sz="2400" dirty="0"/>
              <a:t>Shows that the company has achieved </a:t>
            </a:r>
            <a:r>
              <a:rPr lang="en-US" sz="2400" b="1" dirty="0"/>
              <a:t>nearly 30 million in sales</a:t>
            </a:r>
            <a:r>
              <a:rPr lang="en-US" sz="2400" dirty="0"/>
              <a:t>, reflecting good market demand.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25161-CEB7-0075-0120-D381237BF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088" y="1743075"/>
            <a:ext cx="3176586" cy="265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3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5C431-C4F0-9C8A-EDF7-BC30C6637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8" y="319088"/>
            <a:ext cx="7229475" cy="5395912"/>
          </a:xfrm>
        </p:spPr>
        <p:txBody>
          <a:bodyPr>
            <a:normAutofit fontScale="40000" lnSpcReduction="20000"/>
          </a:bodyPr>
          <a:lstStyle/>
          <a:p>
            <a:r>
              <a:rPr lang="en-US" sz="5000" b="1" dirty="0"/>
              <a:t>2️⃣ Total Profit – 12.08M</a:t>
            </a:r>
          </a:p>
          <a:p>
            <a:r>
              <a:rPr lang="en-US" sz="5000" b="1" dirty="0"/>
              <a:t>What it means:</a:t>
            </a:r>
            <a:br>
              <a:rPr lang="en-US" sz="5000" dirty="0"/>
            </a:br>
            <a:r>
              <a:rPr lang="en-US" sz="5000" dirty="0"/>
              <a:t>Net profit earned after deducting production and operational costs.</a:t>
            </a:r>
          </a:p>
          <a:p>
            <a:r>
              <a:rPr lang="en-US" sz="5000" b="1" dirty="0"/>
              <a:t>Finding / Insight:</a:t>
            </a:r>
            <a:endParaRPr lang="en-US" sz="5000" dirty="0"/>
          </a:p>
          <a:p>
            <a:r>
              <a:rPr lang="en-US" sz="5000" dirty="0"/>
              <a:t>Profit is significantly high compared to sales.</a:t>
            </a:r>
          </a:p>
          <a:p>
            <a:r>
              <a:rPr lang="en-US" sz="5000" dirty="0"/>
              <a:t>Indicates </a:t>
            </a:r>
            <a:r>
              <a:rPr lang="en-US" sz="5000" b="1" dirty="0"/>
              <a:t>effective cost control and pricing strategy</a:t>
            </a:r>
            <a:r>
              <a:rPr lang="en-US" sz="5000" dirty="0"/>
              <a:t>.</a:t>
            </a:r>
          </a:p>
          <a:p>
            <a:pPr marL="0" indent="0">
              <a:buNone/>
            </a:pPr>
            <a:br>
              <a:rPr lang="en-US" sz="5000" dirty="0"/>
            </a:br>
            <a:endParaRPr lang="en-US" sz="5000" dirty="0"/>
          </a:p>
          <a:p>
            <a:r>
              <a:rPr lang="en-US" sz="5000" b="1" dirty="0"/>
              <a:t>3️⃣ Profit Margin – 41.15%</a:t>
            </a:r>
          </a:p>
          <a:p>
            <a:r>
              <a:rPr lang="en-US" sz="5000" b="1" dirty="0"/>
              <a:t>What it means:</a:t>
            </a:r>
            <a:br>
              <a:rPr lang="en-US" sz="5000" dirty="0"/>
            </a:br>
            <a:r>
              <a:rPr lang="en-US" sz="5000" dirty="0"/>
              <a:t>Percentage of profit earned from total sales.</a:t>
            </a:r>
          </a:p>
          <a:p>
            <a:r>
              <a:rPr lang="en-US" sz="5000" b="1" dirty="0"/>
              <a:t>Finding / Insight:</a:t>
            </a:r>
            <a:endParaRPr lang="en-US" sz="5000" dirty="0"/>
          </a:p>
          <a:p>
            <a:r>
              <a:rPr lang="en-US" sz="5000" dirty="0"/>
              <a:t>A margin above </a:t>
            </a:r>
            <a:r>
              <a:rPr lang="en-US" sz="5000" b="1" dirty="0"/>
              <a:t>40% is excellent</a:t>
            </a:r>
            <a:r>
              <a:rPr lang="en-US" sz="5000" dirty="0"/>
              <a:t>.</a:t>
            </a:r>
          </a:p>
          <a:p>
            <a:r>
              <a:rPr lang="en-US" sz="5000" dirty="0"/>
              <a:t>Shows Adventure Works is a </a:t>
            </a:r>
            <a:r>
              <a:rPr lang="en-US" sz="5000" b="1" dirty="0"/>
              <a:t>highly profitable business</a:t>
            </a:r>
            <a:r>
              <a:rPr lang="en-US" sz="5000" dirty="0"/>
              <a:t> with efficient operations.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09F0A-C9A0-4596-38E7-F86DF3E3F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075" y="661988"/>
            <a:ext cx="3043238" cy="1809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F2E4C1-FC25-918A-8A7E-08AECE683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075" y="3429000"/>
            <a:ext cx="3043238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59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9A745-8597-31EA-946D-3754A83E7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6" y="757238"/>
            <a:ext cx="4843462" cy="5110162"/>
          </a:xfrm>
        </p:spPr>
        <p:txBody>
          <a:bodyPr>
            <a:normAutofit/>
          </a:bodyPr>
          <a:lstStyle/>
          <a:p>
            <a:r>
              <a:rPr lang="en-US" b="1" dirty="0"/>
              <a:t>Year-wise Sales (Bar Chart)</a:t>
            </a:r>
          </a:p>
          <a:p>
            <a:r>
              <a:rPr lang="en-US" b="1" dirty="0"/>
              <a:t>What it shows:</a:t>
            </a:r>
            <a:br>
              <a:rPr lang="en-US" dirty="0"/>
            </a:br>
            <a:r>
              <a:rPr lang="en-US" dirty="0"/>
              <a:t>Sales trend from 2010 to 2014.</a:t>
            </a:r>
          </a:p>
          <a:p>
            <a:r>
              <a:rPr lang="en-US" b="1" dirty="0"/>
              <a:t>Key Findings:</a:t>
            </a:r>
            <a:endParaRPr lang="en-US" dirty="0"/>
          </a:p>
          <a:p>
            <a:r>
              <a:rPr lang="en-US" dirty="0"/>
              <a:t>Sales </a:t>
            </a:r>
            <a:r>
              <a:rPr lang="en-US" b="1" dirty="0"/>
              <a:t>steadily increase over years</a:t>
            </a:r>
            <a:r>
              <a:rPr lang="en-US" dirty="0"/>
              <a:t>.</a:t>
            </a:r>
          </a:p>
          <a:p>
            <a:r>
              <a:rPr lang="en-US" b="1" dirty="0"/>
              <a:t>2013 is the best-performing year (~16.35M)</a:t>
            </a:r>
            <a:r>
              <a:rPr lang="en-US" dirty="0"/>
              <a:t>.</a:t>
            </a:r>
          </a:p>
          <a:p>
            <a:r>
              <a:rPr lang="en-US" dirty="0"/>
              <a:t>Indicates </a:t>
            </a:r>
            <a:r>
              <a:rPr lang="en-US" b="1" dirty="0"/>
              <a:t>consistent growth and expansion</a:t>
            </a:r>
            <a:r>
              <a:rPr lang="en-US" dirty="0"/>
              <a:t>.</a:t>
            </a:r>
          </a:p>
          <a:p>
            <a:r>
              <a:rPr lang="en-US" dirty="0"/>
              <a:t>📌 </a:t>
            </a:r>
            <a:r>
              <a:rPr lang="en-US" i="1" dirty="0"/>
              <a:t>Business Insight:</a:t>
            </a:r>
            <a:br>
              <a:rPr lang="en-US" dirty="0"/>
            </a:br>
            <a:r>
              <a:rPr lang="en-US" dirty="0"/>
              <a:t>👉 Company is scaling well and gaining market traction year after year.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24E98B-D7C1-DD72-D3D4-76436EAAF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825" y="985624"/>
            <a:ext cx="6115050" cy="3057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77E401-CE28-B319-9778-A5FB0F259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767" y="4404643"/>
            <a:ext cx="5125165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55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B72AB0-3D55-26A4-2910-D80A7BC67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095" y="775221"/>
            <a:ext cx="5157788" cy="36001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D62FD1-47C1-D422-E26F-6752754FFFC9}"/>
              </a:ext>
            </a:extLst>
          </p:cNvPr>
          <p:cNvSpPr txBox="1"/>
          <p:nvPr/>
        </p:nvSpPr>
        <p:spPr>
          <a:xfrm>
            <a:off x="785813" y="1"/>
            <a:ext cx="562927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KPI: Quarter-wise Sales Performance</a:t>
            </a:r>
          </a:p>
          <a:p>
            <a:pPr>
              <a:buNone/>
            </a:pPr>
            <a:r>
              <a:rPr lang="en-US" b="1" dirty="0"/>
              <a:t>🔹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KPI represents </a:t>
            </a:r>
            <a:r>
              <a:rPr lang="en-US" b="1" dirty="0"/>
              <a:t>total sales distribution across four quarters (Q1–Q4)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helps in identifying </a:t>
            </a:r>
            <a:r>
              <a:rPr lang="en-US" b="1" dirty="0"/>
              <a:t>seasonal trends and peak business periods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🔹 Sales by Quarter (in Millions)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Q1:</a:t>
            </a:r>
            <a:r>
              <a:rPr lang="en-US" dirty="0"/>
              <a:t> 5.52M </a:t>
            </a:r>
            <a:r>
              <a:rPr lang="en-US" i="1" dirty="0"/>
              <a:t>(Lowest)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Q2:</a:t>
            </a:r>
            <a:r>
              <a:rPr lang="en-US" dirty="0"/>
              <a:t> 7.09M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Q3:</a:t>
            </a:r>
            <a:r>
              <a:rPr lang="en-US" dirty="0"/>
              <a:t> 7.64M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Q4:</a:t>
            </a:r>
            <a:r>
              <a:rPr lang="en-US" dirty="0"/>
              <a:t> 9.11M </a:t>
            </a:r>
            <a:r>
              <a:rPr lang="en-US" i="1" dirty="0"/>
              <a:t>(Highest)</a:t>
            </a:r>
            <a:endParaRPr lang="en-US" dirty="0"/>
          </a:p>
          <a:p>
            <a:pPr>
              <a:buNone/>
            </a:pPr>
            <a:r>
              <a:rPr lang="en-US" b="1" dirty="0"/>
              <a:t>🔹 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show a </a:t>
            </a:r>
            <a:r>
              <a:rPr lang="en-US" b="1" dirty="0"/>
              <a:t>consistent upward trend throughout the year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Q4 is the best-performing quarter</a:t>
            </a:r>
            <a:r>
              <a:rPr lang="en-US" dirty="0"/>
              <a:t>, indicating strong year-end demand.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Q1 underperforms</a:t>
            </a:r>
            <a:r>
              <a:rPr lang="en-US" dirty="0"/>
              <a:t>, highlighting scope for improved early-year strategies.</a:t>
            </a:r>
          </a:p>
          <a:p>
            <a:pPr>
              <a:buNone/>
            </a:pPr>
            <a:r>
              <a:rPr lang="en-US" b="1" dirty="0"/>
              <a:t>🔹 Business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</a:t>
            </a:r>
            <a:r>
              <a:rPr lang="en-US" b="1" dirty="0"/>
              <a:t>replicating Q4 sales strategies</a:t>
            </a:r>
            <a:r>
              <a:rPr lang="en-US" dirty="0"/>
              <a:t> in other quarters.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Introduce </a:t>
            </a:r>
            <a:r>
              <a:rPr lang="en-US" b="1" dirty="0"/>
              <a:t>promotions or campaigns in Q1</a:t>
            </a:r>
            <a:r>
              <a:rPr lang="en-US" dirty="0"/>
              <a:t> to balance annual sales.</a:t>
            </a:r>
          </a:p>
        </p:txBody>
      </p:sp>
    </p:spTree>
    <p:extLst>
      <p:ext uri="{BB962C8B-B14F-4D97-AF65-F5344CB8AC3E}">
        <p14:creationId xmlns:p14="http://schemas.microsoft.com/office/powerpoint/2010/main" val="323289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997C73C-4906-6C44-2954-7C5000EE2597}"/>
              </a:ext>
            </a:extLst>
          </p:cNvPr>
          <p:cNvSpPr txBox="1"/>
          <p:nvPr/>
        </p:nvSpPr>
        <p:spPr>
          <a:xfrm>
            <a:off x="758392" y="185738"/>
            <a:ext cx="579957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KPI: Financial Quarter-wise Sales &amp; Production Cost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🔹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KPI compares </a:t>
            </a:r>
            <a:r>
              <a:rPr lang="en-US" b="1" dirty="0"/>
              <a:t>sales performance and production cost across financial quarters (FQ1–FQ4)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helps evaluate </a:t>
            </a:r>
            <a:r>
              <a:rPr lang="en-US" b="1" dirty="0"/>
              <a:t>cost efficiency and profitability trends</a:t>
            </a:r>
            <a:r>
              <a:rPr lang="en-US" dirty="0"/>
              <a:t> over time.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🔹 Quarter-wise Values (in Millions)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FQ1:</a:t>
            </a:r>
            <a:r>
              <a:rPr lang="en-US" dirty="0"/>
              <a:t> 4.18M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FQ2:</a:t>
            </a:r>
            <a:r>
              <a:rPr lang="en-US" dirty="0"/>
              <a:t> 4.49M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FQ3:</a:t>
            </a:r>
            <a:r>
              <a:rPr lang="en-US" dirty="0"/>
              <a:t> 5.35M </a:t>
            </a:r>
            <a:r>
              <a:rPr lang="en-US" i="1" dirty="0"/>
              <a:t>(Highest)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FQ4:</a:t>
            </a:r>
            <a:r>
              <a:rPr lang="en-US" dirty="0"/>
              <a:t> 3.26M </a:t>
            </a:r>
            <a:r>
              <a:rPr lang="en-US" i="1" dirty="0"/>
              <a:t>(Lowest)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🔹 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 and production cost increase steadily from FQ1 to FQ3</a:t>
            </a:r>
            <a:r>
              <a:rPr lang="en-US" dirty="0"/>
              <a:t>, indicating higher business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FQ3 is the peak quarter</a:t>
            </a:r>
            <a:r>
              <a:rPr lang="en-US" dirty="0"/>
              <a:t>, suggesting maximum output and revenue generation.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Sharp decline in FQ4</a:t>
            </a:r>
            <a:r>
              <a:rPr lang="en-US" dirty="0"/>
              <a:t>, possibly due to reduced demand, cost optimization, or seasonal slowdown.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0400" y="1236966"/>
            <a:ext cx="4667250" cy="3592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96625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AEBFB4-B92C-4FED-3859-D0FB01730B47}"/>
              </a:ext>
            </a:extLst>
          </p:cNvPr>
          <p:cNvSpPr txBox="1"/>
          <p:nvPr/>
        </p:nvSpPr>
        <p:spPr>
          <a:xfrm>
            <a:off x="685800" y="128588"/>
            <a:ext cx="66294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KPI: Month-wise Sales Trend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000" b="1" dirty="0"/>
              <a:t>🔹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KPI shows </a:t>
            </a:r>
            <a:r>
              <a:rPr lang="en-US" b="1" dirty="0"/>
              <a:t>sales performance across different months of the year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helps identify </a:t>
            </a:r>
            <a:r>
              <a:rPr lang="en-US" b="1" dirty="0"/>
              <a:t>seasonal patterns, demand fluctuations, and growth cycles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sz="2000" b="1" dirty="0"/>
              <a:t>🔹 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show </a:t>
            </a:r>
            <a:r>
              <a:rPr lang="en-US" b="1" dirty="0"/>
              <a:t>fluctuations rather than a straight-line trend</a:t>
            </a:r>
            <a:r>
              <a:rPr lang="en-US" dirty="0"/>
              <a:t>, indicating seasonality.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 dip around February and March</a:t>
            </a:r>
            <a:r>
              <a:rPr lang="en-US" dirty="0"/>
              <a:t>, suggesting a temporary slowdown.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 improve mid-year (June–July)</a:t>
            </a:r>
            <a:r>
              <a:rPr lang="en-US" dirty="0"/>
              <a:t>, showing recovery and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Higher sales are observed during October–November</a:t>
            </a:r>
            <a:r>
              <a:rPr lang="en-US" dirty="0"/>
              <a:t>, indicating festive or peak demand periods.</a:t>
            </a:r>
          </a:p>
          <a:p>
            <a:pPr>
              <a:buNone/>
            </a:pPr>
            <a:br>
              <a:rPr lang="en-US" dirty="0"/>
            </a:br>
            <a:r>
              <a:rPr lang="en-US" sz="2000" b="1" dirty="0"/>
              <a:t>🔹 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experiences </a:t>
            </a:r>
            <a:r>
              <a:rPr lang="en-US" b="1" dirty="0"/>
              <a:t>seasonal highs and lows</a:t>
            </a:r>
            <a:r>
              <a:rPr lang="en-US" dirty="0"/>
              <a:t> throughout the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End-of-year months contribute </a:t>
            </a:r>
            <a:r>
              <a:rPr lang="en-US" b="1" dirty="0"/>
              <a:t>stronger sales performance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Early-year months may require </a:t>
            </a:r>
            <a:r>
              <a:rPr lang="en-US" b="1" dirty="0"/>
              <a:t>additional marketing or sales push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B31D97-57C3-5EDA-A06D-BF8F4E3158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31"/>
          <a:stretch>
            <a:fillRect/>
          </a:stretch>
        </p:blipFill>
        <p:spPr>
          <a:xfrm>
            <a:off x="7315200" y="1258529"/>
            <a:ext cx="4621161" cy="390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D9F0B3-2F0E-62F0-D2B9-A737CB7FC6CE}"/>
              </a:ext>
            </a:extLst>
          </p:cNvPr>
          <p:cNvSpPr txBox="1"/>
          <p:nvPr/>
        </p:nvSpPr>
        <p:spPr>
          <a:xfrm>
            <a:off x="785814" y="314325"/>
            <a:ext cx="498633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KPI: Top 5 Products by Sales</a:t>
            </a:r>
          </a:p>
          <a:p>
            <a:pPr>
              <a:buNone/>
            </a:pPr>
            <a:r>
              <a:rPr lang="en-US" b="1" dirty="0"/>
              <a:t>🔹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KPI highlights the </a:t>
            </a:r>
            <a:r>
              <a:rPr lang="en-US" b="1" dirty="0"/>
              <a:t>top-performing products based on total sales value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helps identify </a:t>
            </a:r>
            <a:r>
              <a:rPr lang="en-US" b="1" dirty="0"/>
              <a:t>high-revenue products</a:t>
            </a:r>
            <a:r>
              <a:rPr lang="en-US" dirty="0"/>
              <a:t> and supports product, inventory, and marketing decisions.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b="1" dirty="0"/>
              <a:t>🔹 Top Products &amp; Sales (in Millions)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Mountain-200 Black, 46:</a:t>
            </a:r>
            <a:r>
              <a:rPr lang="en-US" dirty="0"/>
              <a:t> </a:t>
            </a:r>
            <a:r>
              <a:rPr lang="en-US" b="1" dirty="0"/>
              <a:t>1.37M</a:t>
            </a:r>
            <a:r>
              <a:rPr lang="en-US" dirty="0"/>
              <a:t> </a:t>
            </a:r>
            <a:r>
              <a:rPr lang="en-US" i="1" dirty="0"/>
              <a:t>(Highest selling product)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Mountain-200 Black, 42:</a:t>
            </a:r>
            <a:r>
              <a:rPr lang="en-US" dirty="0"/>
              <a:t> </a:t>
            </a:r>
            <a:r>
              <a:rPr lang="en-US" b="1" dirty="0"/>
              <a:t>1.36M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Mountain-200 Silver, 38:</a:t>
            </a:r>
            <a:r>
              <a:rPr lang="en-US" dirty="0"/>
              <a:t> </a:t>
            </a:r>
            <a:r>
              <a:rPr lang="en-US" b="1" dirty="0"/>
              <a:t>1.34M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🔹 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Mountain-200 series dominates sales</a:t>
            </a:r>
            <a:r>
              <a:rPr lang="en-US" dirty="0"/>
              <a:t>, indicating strong customer preference.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Black color variants perform </a:t>
            </a:r>
            <a:r>
              <a:rPr lang="en-US" b="1" dirty="0"/>
              <a:t>slightly better than Silver</a:t>
            </a:r>
            <a:r>
              <a:rPr lang="en-US" dirty="0"/>
              <a:t>, suggesting color-based demand.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values are </a:t>
            </a:r>
            <a:r>
              <a:rPr lang="en-US" b="1" dirty="0"/>
              <a:t>very close</a:t>
            </a:r>
            <a:r>
              <a:rPr lang="en-US" dirty="0"/>
              <a:t>, showing consistent performance across top products.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A64AC-7CF8-0B59-E562-9E8E5FC53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181" y="797207"/>
            <a:ext cx="5894812" cy="395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67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A699-CE68-3685-3121-86E8CA84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6" y="228600"/>
            <a:ext cx="10243924" cy="1943100"/>
          </a:xfrm>
        </p:spPr>
        <p:txBody>
          <a:bodyPr/>
          <a:lstStyle/>
          <a:p>
            <a:r>
              <a:rPr lang="en-US" dirty="0"/>
              <a:t>EXCEL DASHBOARD-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B47D6-2D7B-F7A8-CE74-774CE164F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728876" y="1200150"/>
            <a:ext cx="11144037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57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5A8A-DFF2-D5A6-64F6-2F2BE630F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0"/>
            <a:ext cx="10256520" cy="716280"/>
          </a:xfrm>
        </p:spPr>
        <p:txBody>
          <a:bodyPr/>
          <a:lstStyle/>
          <a:p>
            <a:r>
              <a:rPr lang="en-US" dirty="0" err="1"/>
              <a:t>Sql</a:t>
            </a:r>
            <a:r>
              <a:rPr lang="en-US" dirty="0"/>
              <a:t> Query-</a:t>
            </a:r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A6017D5-4F7D-3942-2DE9-C1A4D7B63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280" y="716280"/>
            <a:ext cx="5623559" cy="592836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BB946C-1CEE-F876-D692-2C5FF46A9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0" y="838200"/>
            <a:ext cx="5501638" cy="580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37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91F3EC-D7E2-451D-981E-677FEC295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098" y="106680"/>
            <a:ext cx="5193902" cy="6477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1223-3DF0-0663-0ABA-B83389BF2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16" y="106680"/>
            <a:ext cx="5481824" cy="63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90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7856-734D-08D2-9D13-8C868AB05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538" y="157162"/>
            <a:ext cx="10101262" cy="742951"/>
          </a:xfrm>
        </p:spPr>
        <p:txBody>
          <a:bodyPr/>
          <a:lstStyle/>
          <a:p>
            <a:r>
              <a:rPr lang="en-US" dirty="0"/>
              <a:t>POWERBI DASHBOARD-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5C4D4B-3E84-C690-2D2F-CD0778F7E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538" y="909638"/>
            <a:ext cx="10967117" cy="5791200"/>
          </a:xfrm>
        </p:spPr>
      </p:pic>
    </p:spTree>
    <p:extLst>
      <p:ext uri="{BB962C8B-B14F-4D97-AF65-F5344CB8AC3E}">
        <p14:creationId xmlns:p14="http://schemas.microsoft.com/office/powerpoint/2010/main" val="1652647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44E0-31CA-1888-171C-8B73E773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114300"/>
            <a:ext cx="10186987" cy="942975"/>
          </a:xfrm>
        </p:spPr>
        <p:txBody>
          <a:bodyPr/>
          <a:lstStyle/>
          <a:p>
            <a:r>
              <a:rPr lang="en-US" dirty="0"/>
              <a:t>TABLEAU DASHBOARD-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95DD4C-D7A5-487C-2D6E-0760FDBCD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813" y="1190265"/>
            <a:ext cx="10944225" cy="529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57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1679FA-AE15-9BC7-3F81-D7EC41AE0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1" y="471487"/>
            <a:ext cx="1113251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31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01D1-E9EC-873C-22B2-481B282DD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49" y="285750"/>
            <a:ext cx="11029951" cy="125730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 </a:t>
            </a:r>
            <a:r>
              <a:rPr lang="en-US" b="1" dirty="0"/>
              <a:t>Conclusion</a:t>
            </a:r>
            <a:r>
              <a:rPr lang="en-US" sz="4000" b="1" dirty="0"/>
              <a:t> – Adventure Works Sales &amp; Profit Analysis</a:t>
            </a:r>
            <a:br>
              <a:rPr lang="en-US" sz="4000" b="1" dirty="0"/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A8611-941D-3A80-547F-A62D0F3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8" y="1314450"/>
            <a:ext cx="10844212" cy="5086350"/>
          </a:xfrm>
        </p:spPr>
        <p:txBody>
          <a:bodyPr>
            <a:normAutofit/>
          </a:bodyPr>
          <a:lstStyle/>
          <a:p>
            <a:r>
              <a:rPr lang="en-US" sz="2400" dirty="0"/>
              <a:t>Adventure Works shows </a:t>
            </a:r>
            <a:r>
              <a:rPr lang="en-US" sz="2400" b="1" dirty="0"/>
              <a:t>strong financial performance</a:t>
            </a:r>
            <a:r>
              <a:rPr lang="en-US" sz="2400" dirty="0"/>
              <a:t> with </a:t>
            </a:r>
            <a:r>
              <a:rPr lang="en-US" sz="2400" b="1" dirty="0"/>
              <a:t>29.36M total sales</a:t>
            </a:r>
            <a:r>
              <a:rPr lang="en-US" sz="2400" dirty="0"/>
              <a:t>, </a:t>
            </a:r>
            <a:r>
              <a:rPr lang="en-US" sz="2400" b="1" dirty="0"/>
              <a:t>12.08M profit</a:t>
            </a:r>
            <a:r>
              <a:rPr lang="en-US" sz="2400" dirty="0"/>
              <a:t>, and a </a:t>
            </a:r>
            <a:r>
              <a:rPr lang="en-US" sz="2400" b="1" dirty="0"/>
              <a:t>high profit margin of 41.15%</a:t>
            </a:r>
            <a:r>
              <a:rPr lang="en-US" sz="2400" dirty="0"/>
              <a:t>.</a:t>
            </a:r>
          </a:p>
          <a:p>
            <a:r>
              <a:rPr lang="en-US" sz="2400" dirty="0"/>
              <a:t>Sales demonstrate </a:t>
            </a:r>
            <a:r>
              <a:rPr lang="en-US" sz="2400" b="1" dirty="0"/>
              <a:t>consistent year-on-year growth</a:t>
            </a:r>
            <a:r>
              <a:rPr lang="en-US" sz="2400" dirty="0"/>
              <a:t>, with </a:t>
            </a:r>
            <a:r>
              <a:rPr lang="en-US" sz="2400" b="1" dirty="0"/>
              <a:t>2014 as the highest-performing year</a:t>
            </a:r>
            <a:r>
              <a:rPr lang="en-US" sz="2400" dirty="0"/>
              <a:t>, indicating successful business expansion.</a:t>
            </a:r>
          </a:p>
          <a:p>
            <a:r>
              <a:rPr lang="en-US" sz="2400" b="1" dirty="0"/>
              <a:t>Quarter 4 contributes the maximum revenue</a:t>
            </a:r>
            <a:r>
              <a:rPr lang="en-US" sz="2400" dirty="0"/>
              <a:t>, while </a:t>
            </a:r>
            <a:r>
              <a:rPr lang="en-US" sz="2400" b="1" dirty="0"/>
              <a:t>Quarter 1 shows the lowest sales</a:t>
            </a:r>
            <a:r>
              <a:rPr lang="en-US" sz="2400" dirty="0"/>
              <a:t>, highlighting seasonal demand patterns.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Mountain-200 product series</a:t>
            </a:r>
            <a:r>
              <a:rPr lang="en-US" sz="2400" dirty="0"/>
              <a:t> is the top revenue driver, proving that a few key products generate most sales.</a:t>
            </a:r>
          </a:p>
          <a:p>
            <a:r>
              <a:rPr lang="en-US" sz="2400" dirty="0"/>
              <a:t>Customer revenue is </a:t>
            </a:r>
            <a:r>
              <a:rPr lang="en-US" sz="2400" b="1" dirty="0"/>
              <a:t>well-distributed</a:t>
            </a:r>
            <a:r>
              <a:rPr lang="en-US" sz="2400" dirty="0"/>
              <a:t>, reducing dependency risk and supporting sustainable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233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F6E6-2E21-1B33-3116-E94C552E3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142875"/>
            <a:ext cx="10158412" cy="2028825"/>
          </a:xfrm>
        </p:spPr>
        <p:txBody>
          <a:bodyPr/>
          <a:lstStyle/>
          <a:p>
            <a:r>
              <a:rPr lang="en-US" b="1" dirty="0"/>
              <a:t>Challenges &amp; How They Were Overcome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195EE-E19F-B1D9-38C2-75D3CDA11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388" y="1650589"/>
            <a:ext cx="10563224" cy="4120945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Resolved data accuracy and consistency problems using SQL queries and Excel-based data cleaning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Implemented profit and margin calculations through SQL calculated fields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Addressed tool integration issues by ensuring consistent primary and foreign keys across platforms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Improved query efficiency by applying aggregation techniques and indexing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Enhanced dashboard usability by creating clean, uniform, and simplified visual designs</a:t>
            </a:r>
          </a:p>
        </p:txBody>
      </p:sp>
    </p:spTree>
    <p:extLst>
      <p:ext uri="{BB962C8B-B14F-4D97-AF65-F5344CB8AC3E}">
        <p14:creationId xmlns:p14="http://schemas.microsoft.com/office/powerpoint/2010/main" val="2091450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11990-CF97-3DAE-8F4A-B98C8A045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474" y="2214562"/>
            <a:ext cx="9458325" cy="3100387"/>
          </a:xfrm>
        </p:spPr>
        <p:txBody>
          <a:bodyPr>
            <a:normAutofit/>
          </a:bodyPr>
          <a:lstStyle/>
          <a:p>
            <a:r>
              <a:rPr lang="en-US" sz="9600" dirty="0"/>
              <a:t>THANK YOU…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91497077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{B75CAFAB-114B-4F12-9476-D33C98062EF0}tf10001105</Template>
  <TotalTime>1583</TotalTime>
  <Words>1149</Words>
  <Application>Microsoft Office PowerPoint</Application>
  <PresentationFormat>Widescreen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Franklin Gothic Book</vt:lpstr>
      <vt:lpstr>Wingdings</vt:lpstr>
      <vt:lpstr>Crop</vt:lpstr>
      <vt:lpstr>Adventure works</vt:lpstr>
      <vt:lpstr>index</vt:lpstr>
      <vt:lpstr>Project Overview - Adventure Works Sales &amp; Profit Analysis </vt:lpstr>
      <vt:lpstr>THE TECHNICAL PROCESS</vt:lpstr>
      <vt:lpstr>Dashboard  :  Adventure Works – Sales &amp; Profits KPIs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EXCEL DASHBOARD-</vt:lpstr>
      <vt:lpstr>Sql Query-</vt:lpstr>
      <vt:lpstr>PowerPoint Presentation</vt:lpstr>
      <vt:lpstr>POWERBI DASHBOARD-</vt:lpstr>
      <vt:lpstr>TABLEAU DASHBOARD-</vt:lpstr>
      <vt:lpstr>PowerPoint Presentation</vt:lpstr>
      <vt:lpstr> Conclusion – Adventure Works Sales &amp; Profit Analysis </vt:lpstr>
      <vt:lpstr>Challenges &amp; How They Were Overcome 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</dc:title>
  <dc:creator>Aditi mali</dc:creator>
  <cp:lastModifiedBy>Yash Goud</cp:lastModifiedBy>
  <cp:revision>9</cp:revision>
  <dcterms:created xsi:type="dcterms:W3CDTF">2026-01-12T15:52:57Z</dcterms:created>
  <dcterms:modified xsi:type="dcterms:W3CDTF">2026-01-18T17:19:02Z</dcterms:modified>
</cp:coreProperties>
</file>